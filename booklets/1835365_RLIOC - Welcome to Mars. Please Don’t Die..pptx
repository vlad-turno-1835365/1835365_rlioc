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Montserrat"/>
      <p:regular r:id="rId36"/>
      <p:bold r:id="rId37"/>
      <p:italic r:id="rId38"/>
      <p:boldItalic r:id="rId39"/>
    </p:embeddedFont>
    <p:embeddedFont>
      <p:font typeface="Lato"/>
      <p:regular r:id="rId40"/>
      <p:bold r:id="rId41"/>
      <p:italic r:id="rId42"/>
      <p:boldItalic r:id="rId43"/>
    </p:embeddedFont>
    <p:embeddedFont>
      <p:font typeface="Roboto Mono"/>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regular.fntdata"/><Relationship Id="rId20" Type="http://schemas.openxmlformats.org/officeDocument/2006/relationships/slide" Target="slides/slide15.xml"/><Relationship Id="rId42" Type="http://schemas.openxmlformats.org/officeDocument/2006/relationships/font" Target="fonts/Lato-italic.fntdata"/><Relationship Id="rId41" Type="http://schemas.openxmlformats.org/officeDocument/2006/relationships/font" Target="fonts/Lato-bold.fntdata"/><Relationship Id="rId22" Type="http://schemas.openxmlformats.org/officeDocument/2006/relationships/slide" Target="slides/slide17.xml"/><Relationship Id="rId44" Type="http://schemas.openxmlformats.org/officeDocument/2006/relationships/font" Target="fonts/RobotoMono-regular.fntdata"/><Relationship Id="rId21" Type="http://schemas.openxmlformats.org/officeDocument/2006/relationships/slide" Target="slides/slide16.xml"/><Relationship Id="rId43" Type="http://schemas.openxmlformats.org/officeDocument/2006/relationships/font" Target="fonts/Lato-boldItalic.fntdata"/><Relationship Id="rId24" Type="http://schemas.openxmlformats.org/officeDocument/2006/relationships/slide" Target="slides/slide19.xml"/><Relationship Id="rId46" Type="http://schemas.openxmlformats.org/officeDocument/2006/relationships/font" Target="fonts/RobotoMono-italic.fntdata"/><Relationship Id="rId23" Type="http://schemas.openxmlformats.org/officeDocument/2006/relationships/slide" Target="slides/slide18.xml"/><Relationship Id="rId45" Type="http://schemas.openxmlformats.org/officeDocument/2006/relationships/font" Target="fonts/RobotoMon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schemas.openxmlformats.org/officeDocument/2006/relationships/font" Target="fonts/RobotoMono-boldItalic.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Montserrat-bold.fntdata"/><Relationship Id="rId14" Type="http://schemas.openxmlformats.org/officeDocument/2006/relationships/slide" Target="slides/slide9.xml"/><Relationship Id="rId36" Type="http://schemas.openxmlformats.org/officeDocument/2006/relationships/font" Target="fonts/Montserrat-regular.fntdata"/><Relationship Id="rId17" Type="http://schemas.openxmlformats.org/officeDocument/2006/relationships/slide" Target="slides/slide12.xml"/><Relationship Id="rId39" Type="http://schemas.openxmlformats.org/officeDocument/2006/relationships/font" Target="fonts/Montserrat-boldItalic.fntdata"/><Relationship Id="rId16" Type="http://schemas.openxmlformats.org/officeDocument/2006/relationships/slide" Target="slides/slide11.xml"/><Relationship Id="rId38" Type="http://schemas.openxmlformats.org/officeDocument/2006/relationships/font" Target="fonts/Montserrat-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ce994b93c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ce994b93c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ce994b93ca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ce994b93ca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ce994b93ca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ce994b93ca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ce994b93ca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ce994b93ca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ce994b93ca_18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ce994b93ca_18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ce994b93ca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ce994b93ca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ce994b93ca_18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ce994b93ca_18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ce994b93ca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ce994b93ca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ce994b93c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ce994b93c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ce994b93ca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ce994b93ca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ce994b93ca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ce994b93ca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ce994b93ca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ce994b93c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ce994b93ca_24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ce994b93ca_24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ce994b93ca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ce994b93ca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ce994b93ca_24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ce994b93ca_24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ce994b93ca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ce994b93ca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ce994b93ca_24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ce994b93ca_24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ce994b93ca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ce994b93ca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ce994b93ca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ce994b93ca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ce994b93ca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ce994b93ca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ce994b93ca_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ce994b93ca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ce994b93ca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ce994b93ca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ce994b93ca_8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ce994b93ca_8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ce994b93ca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ce994b93ca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ce994b93ca_8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ce994b93ca_8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ce994b93ca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ce994b93ca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ce994b93ca_8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ce994b93ca_8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ce994b93ca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ce994b93ca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ce994b93ca_8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ce994b93ca_8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ce994b93ca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ce994b93ca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1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10.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1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4.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8.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111750" y="1073475"/>
            <a:ext cx="5442900" cy="1977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4500"/>
              <a:t>Welcome to Mars.</a:t>
            </a:r>
            <a:br>
              <a:rPr lang="en-GB" sz="4500"/>
            </a:br>
            <a:r>
              <a:rPr lang="en-GB" sz="4500"/>
              <a:t>Please don’t die</a:t>
            </a:r>
            <a:endParaRPr sz="4500"/>
          </a:p>
        </p:txBody>
      </p:sp>
      <p:sp>
        <p:nvSpPr>
          <p:cNvPr id="135" name="Google Shape;135;p13"/>
          <p:cNvSpPr txBox="1"/>
          <p:nvPr>
            <p:ph idx="1" type="subTitle"/>
          </p:nvPr>
        </p:nvSpPr>
        <p:spPr>
          <a:xfrm>
            <a:off x="3771900" y="3479675"/>
            <a:ext cx="4782600" cy="844200"/>
          </a:xfrm>
          <a:prstGeom prst="rect">
            <a:avLst/>
          </a:prstGeom>
        </p:spPr>
        <p:txBody>
          <a:bodyPr anchorCtr="0" anchor="ctr" bIns="91425" lIns="91425" spcFirstLastPara="1" rIns="91425" wrap="square" tIns="91425">
            <a:noAutofit/>
          </a:bodyPr>
          <a:lstStyle/>
          <a:p>
            <a:pPr indent="0" lvl="0" marL="0" rtl="0" algn="r">
              <a:lnSpc>
                <a:spcPct val="80000"/>
              </a:lnSpc>
              <a:spcBef>
                <a:spcPts val="0"/>
              </a:spcBef>
              <a:spcAft>
                <a:spcPts val="0"/>
              </a:spcAft>
              <a:buSzPts val="523"/>
              <a:buNone/>
            </a:pPr>
            <a:r>
              <a:rPr lang="en-GB" sz="1817"/>
              <a:t>1835365 </a:t>
            </a:r>
            <a:r>
              <a:rPr lang="en-GB" sz="1817"/>
              <a:t>- VLAD TURNO</a:t>
            </a:r>
            <a:endParaRPr sz="1817"/>
          </a:p>
          <a:p>
            <a:pPr indent="0" lvl="0" marL="0" rtl="0" algn="r">
              <a:lnSpc>
                <a:spcPct val="80000"/>
              </a:lnSpc>
              <a:spcBef>
                <a:spcPts val="0"/>
              </a:spcBef>
              <a:spcAft>
                <a:spcPts val="0"/>
              </a:spcAft>
              <a:buSzPts val="523"/>
              <a:buNone/>
            </a:pPr>
            <a:r>
              <a:rPr lang="en-GB" sz="1817"/>
              <a:t>1883008 - GABRIELE INCARBONE</a:t>
            </a:r>
            <a:endParaRPr sz="1817"/>
          </a:p>
          <a:p>
            <a:pPr indent="0" lvl="0" marL="0" rtl="0" algn="r">
              <a:lnSpc>
                <a:spcPct val="80000"/>
              </a:lnSpc>
              <a:spcBef>
                <a:spcPts val="0"/>
              </a:spcBef>
              <a:spcAft>
                <a:spcPts val="0"/>
              </a:spcAft>
              <a:buSzPts val="523"/>
              <a:buNone/>
            </a:pPr>
            <a:r>
              <a:rPr lang="en-GB" sz="1817"/>
              <a:t>1950722 - DAVIDE TIMPERI</a:t>
            </a:r>
            <a:endParaRPr sz="1817"/>
          </a:p>
          <a:p>
            <a:pPr indent="0" lvl="0" marL="0" rtl="0" algn="r">
              <a:lnSpc>
                <a:spcPct val="80000"/>
              </a:lnSpc>
              <a:spcBef>
                <a:spcPts val="0"/>
              </a:spcBef>
              <a:spcAft>
                <a:spcPts val="0"/>
              </a:spcAft>
              <a:buSzPts val="523"/>
              <a:buNone/>
            </a:pPr>
            <a:r>
              <a:rPr lang="en-GB" sz="1817"/>
              <a:t>1986026 - FEDERICO MENDIOLA</a:t>
            </a:r>
            <a:endParaRPr sz="1817"/>
          </a:p>
        </p:txBody>
      </p:sp>
      <p:sp>
        <p:nvSpPr>
          <p:cNvPr id="136" name="Google Shape;136;p13"/>
          <p:cNvSpPr txBox="1"/>
          <p:nvPr>
            <p:ph idx="1" type="subTitle"/>
          </p:nvPr>
        </p:nvSpPr>
        <p:spPr>
          <a:xfrm>
            <a:off x="3111750" y="2995175"/>
            <a:ext cx="3470700" cy="506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sz="1500"/>
              <a:t>Running late is our cardio</a:t>
            </a:r>
            <a:endParaRPr sz="1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descr="Beautify this slide" id="141" name="Google Shape;141;p14"/>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5" name="Shape 145"/>
        <p:cNvGrpSpPr/>
        <p:nvPr/>
      </p:nvGrpSpPr>
      <p:grpSpPr>
        <a:xfrm>
          <a:off x="0" y="0"/>
          <a:ext cx="0" cy="0"/>
          <a:chOff x="0" y="0"/>
          <a:chExt cx="0" cy="0"/>
        </a:xfrm>
      </p:grpSpPr>
      <p:sp>
        <p:nvSpPr>
          <p:cNvPr id="146" name="Google Shape;146;p15"/>
          <p:cNvSpPr txBox="1"/>
          <p:nvPr>
            <p:ph type="ctrTitle"/>
          </p:nvPr>
        </p:nvSpPr>
        <p:spPr>
          <a:xfrm>
            <a:off x="32100" y="37925"/>
            <a:ext cx="8574000" cy="639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lang="en-GB">
                <a:latin typeface="Calibri"/>
                <a:ea typeface="Calibri"/>
                <a:cs typeface="Calibri"/>
                <a:sym typeface="Calibri"/>
              </a:rPr>
              <a:t>Mars Ingestion Service : Steaming &amp; Polling</a:t>
            </a:r>
            <a:endParaRPr>
              <a:latin typeface="Calibri"/>
              <a:ea typeface="Calibri"/>
              <a:cs typeface="Calibri"/>
              <a:sym typeface="Calibri"/>
            </a:endParaRPr>
          </a:p>
          <a:p>
            <a:pPr indent="0" lvl="0" marL="0" rtl="0" algn="l">
              <a:spcBef>
                <a:spcPts val="0"/>
              </a:spcBef>
              <a:spcAft>
                <a:spcPts val="0"/>
              </a:spcAft>
              <a:buNone/>
            </a:pPr>
            <a:r>
              <a:t/>
            </a:r>
            <a:endParaRPr/>
          </a:p>
        </p:txBody>
      </p:sp>
      <p:sp>
        <p:nvSpPr>
          <p:cNvPr id="147" name="Google Shape;147;p15"/>
          <p:cNvSpPr txBox="1"/>
          <p:nvPr>
            <p:ph idx="4294967295" type="body"/>
          </p:nvPr>
        </p:nvSpPr>
        <p:spPr>
          <a:xfrm>
            <a:off x="1297500" y="1241050"/>
            <a:ext cx="7348500" cy="354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600"/>
              <a:t>Role</a:t>
            </a:r>
            <a:r>
              <a:rPr lang="en-GB" sz="1600"/>
              <a:t>: </a:t>
            </a:r>
            <a:r>
              <a:rPr lang="en-GB" sz="1000">
                <a:solidFill>
                  <a:srgbClr val="DFE1E5"/>
                </a:solidFill>
                <a:latin typeface="Arial"/>
                <a:ea typeface="Arial"/>
                <a:cs typeface="Arial"/>
                <a:sym typeface="Arial"/>
              </a:rPr>
              <a:t>Primary bridge between Mars IoT sensors and downstream processing</a:t>
            </a:r>
            <a:br>
              <a:rPr lang="en-GB" sz="1600"/>
            </a:br>
            <a:r>
              <a:rPr b="1" lang="en-GB" sz="1600"/>
              <a:t>Tech</a:t>
            </a:r>
            <a:r>
              <a:rPr lang="en-GB" sz="1600"/>
              <a:t>: </a:t>
            </a:r>
            <a:r>
              <a:rPr lang="en-GB" sz="1000">
                <a:solidFill>
                  <a:srgbClr val="DFE1E5"/>
                </a:solidFill>
                <a:latin typeface="Arial"/>
                <a:ea typeface="Arial"/>
                <a:cs typeface="Arial"/>
                <a:sym typeface="Arial"/>
              </a:rPr>
              <a:t>Spring Boot , Java HTTP Client , Jackson JSON</a:t>
            </a:r>
            <a:endParaRPr sz="1600"/>
          </a:p>
          <a:p>
            <a:pPr indent="-298450" lvl="0" marL="457200" rtl="0" algn="l">
              <a:lnSpc>
                <a:spcPct val="150000"/>
              </a:lnSpc>
              <a:spcBef>
                <a:spcPts val="1200"/>
              </a:spcBef>
              <a:spcAft>
                <a:spcPts val="0"/>
              </a:spcAft>
              <a:buClr>
                <a:srgbClr val="DFE1E5"/>
              </a:buClr>
              <a:buSzPts val="1100"/>
              <a:buFont typeface="Arial"/>
              <a:buChar char="●"/>
            </a:pPr>
            <a:r>
              <a:rPr lang="en-GB" sz="1100">
                <a:solidFill>
                  <a:srgbClr val="DFE1E5"/>
                </a:solidFill>
                <a:latin typeface="Arial"/>
                <a:ea typeface="Arial"/>
                <a:cs typeface="Arial"/>
                <a:sym typeface="Arial"/>
              </a:rPr>
              <a:t>MarsScheduledIngestionService (API Polling):</a:t>
            </a:r>
            <a:endParaRPr sz="1100">
              <a:solidFill>
                <a:srgbClr val="DFE1E5"/>
              </a:solidFill>
              <a:latin typeface="Arial"/>
              <a:ea typeface="Arial"/>
              <a:cs typeface="Arial"/>
              <a:sym typeface="Arial"/>
            </a:endParaRPr>
          </a:p>
          <a:p>
            <a:pPr indent="-298450" lvl="1" marL="914400" rtl="0" algn="l">
              <a:lnSpc>
                <a:spcPct val="150000"/>
              </a:lnSpc>
              <a:spcBef>
                <a:spcPts val="0"/>
              </a:spcBef>
              <a:spcAft>
                <a:spcPts val="0"/>
              </a:spcAft>
              <a:buClr>
                <a:srgbClr val="DFE1E5"/>
              </a:buClr>
              <a:buSzPts val="1100"/>
              <a:buFont typeface="Arial"/>
              <a:buChar char="○"/>
            </a:pPr>
            <a:r>
              <a:rPr lang="en-GB">
                <a:solidFill>
                  <a:srgbClr val="DFE1E5"/>
                </a:solidFill>
                <a:latin typeface="Arial"/>
                <a:ea typeface="Arial"/>
                <a:cs typeface="Arial"/>
                <a:sym typeface="Arial"/>
              </a:rPr>
              <a:t>@Scheduled HTTP polling every 5 seconds</a:t>
            </a:r>
            <a:endParaRPr>
              <a:solidFill>
                <a:srgbClr val="DFE1E5"/>
              </a:solidFill>
              <a:latin typeface="Arial"/>
              <a:ea typeface="Arial"/>
              <a:cs typeface="Arial"/>
              <a:sym typeface="Arial"/>
            </a:endParaRPr>
          </a:p>
          <a:p>
            <a:pPr indent="-298450" lvl="1" marL="914400" rtl="0" algn="l">
              <a:lnSpc>
                <a:spcPct val="150000"/>
              </a:lnSpc>
              <a:spcBef>
                <a:spcPts val="0"/>
              </a:spcBef>
              <a:spcAft>
                <a:spcPts val="0"/>
              </a:spcAft>
              <a:buClr>
                <a:srgbClr val="DFE1E5"/>
              </a:buClr>
              <a:buSzPts val="1100"/>
              <a:buFont typeface="Arial"/>
              <a:buChar char="○"/>
            </a:pPr>
            <a:r>
              <a:rPr lang="en-GB">
                <a:solidFill>
                  <a:srgbClr val="DFE1E5"/>
                </a:solidFill>
                <a:latin typeface="Arial"/>
                <a:ea typeface="Arial"/>
                <a:cs typeface="Arial"/>
                <a:sym typeface="Arial"/>
              </a:rPr>
              <a:t>8 IoT sensors (Temperature, Humidity, CO2, pH, Water Level, Pressure, Air Quality)</a:t>
            </a:r>
            <a:endParaRPr>
              <a:solidFill>
                <a:srgbClr val="DFE1E5"/>
              </a:solidFill>
              <a:latin typeface="Arial"/>
              <a:ea typeface="Arial"/>
              <a:cs typeface="Arial"/>
              <a:sym typeface="Arial"/>
            </a:endParaRPr>
          </a:p>
          <a:p>
            <a:pPr indent="-298450" lvl="1" marL="914400" rtl="0" algn="l">
              <a:lnSpc>
                <a:spcPct val="150000"/>
              </a:lnSpc>
              <a:spcBef>
                <a:spcPts val="0"/>
              </a:spcBef>
              <a:spcAft>
                <a:spcPts val="0"/>
              </a:spcAft>
              <a:buClr>
                <a:srgbClr val="DFE1E5"/>
              </a:buClr>
              <a:buSzPts val="1100"/>
              <a:buFont typeface="Arial"/>
              <a:buChar char="○"/>
            </a:pPr>
            <a:r>
              <a:rPr lang="en-GB" sz="1000">
                <a:solidFill>
                  <a:srgbClr val="DFE1E5"/>
                </a:solidFill>
                <a:highlight>
                  <a:srgbClr val="2B2D30"/>
                </a:highlight>
                <a:latin typeface="Arial"/>
                <a:ea typeface="Arial"/>
                <a:cs typeface="Arial"/>
                <a:sym typeface="Arial"/>
              </a:rPr>
              <a:t>Synchronous health checks → sensor polling → JSON mapping → Kafka publish</a:t>
            </a:r>
            <a:endParaRPr>
              <a:solidFill>
                <a:srgbClr val="DFE1E5"/>
              </a:solidFill>
              <a:latin typeface="Arial"/>
              <a:ea typeface="Arial"/>
              <a:cs typeface="Arial"/>
              <a:sym typeface="Arial"/>
            </a:endParaRPr>
          </a:p>
          <a:p>
            <a:pPr indent="-298450" lvl="0" marL="457200" rtl="0" algn="l">
              <a:lnSpc>
                <a:spcPct val="150000"/>
              </a:lnSpc>
              <a:spcBef>
                <a:spcPts val="0"/>
              </a:spcBef>
              <a:spcAft>
                <a:spcPts val="0"/>
              </a:spcAft>
              <a:buClr>
                <a:srgbClr val="DFE1E5"/>
              </a:buClr>
              <a:buSzPts val="1100"/>
              <a:buFont typeface="Arial"/>
              <a:buChar char="●"/>
            </a:pPr>
            <a:r>
              <a:rPr lang="en-GB" sz="1100">
                <a:solidFill>
                  <a:srgbClr val="DFE1E5"/>
                </a:solidFill>
                <a:latin typeface="Arial"/>
                <a:ea typeface="Arial"/>
                <a:cs typeface="Arial"/>
                <a:sym typeface="Arial"/>
              </a:rPr>
              <a:t>MarsTelemetryStreamService (Server-Sent Events Streaming):</a:t>
            </a:r>
            <a:endParaRPr sz="1100">
              <a:solidFill>
                <a:srgbClr val="DFE1E5"/>
              </a:solidFill>
              <a:latin typeface="Arial"/>
              <a:ea typeface="Arial"/>
              <a:cs typeface="Arial"/>
              <a:sym typeface="Arial"/>
            </a:endParaRPr>
          </a:p>
          <a:p>
            <a:pPr indent="-298450" lvl="1" marL="914400" rtl="0" algn="l">
              <a:lnSpc>
                <a:spcPct val="150000"/>
              </a:lnSpc>
              <a:spcBef>
                <a:spcPts val="0"/>
              </a:spcBef>
              <a:spcAft>
                <a:spcPts val="0"/>
              </a:spcAft>
              <a:buClr>
                <a:srgbClr val="DFE1E5"/>
              </a:buClr>
              <a:buSzPts val="1100"/>
              <a:buFont typeface="Arial"/>
              <a:buChar char="○"/>
            </a:pPr>
            <a:r>
              <a:rPr lang="en-GB">
                <a:solidFill>
                  <a:srgbClr val="DFE1E5"/>
                </a:solidFill>
                <a:latin typeface="Arial"/>
                <a:ea typeface="Arial"/>
                <a:cs typeface="Arial"/>
                <a:sym typeface="Arial"/>
              </a:rPr>
              <a:t>Approach: Real-time SSE streaming with persistent HTTP connections</a:t>
            </a:r>
            <a:endParaRPr>
              <a:solidFill>
                <a:srgbClr val="DFE1E5"/>
              </a:solidFill>
              <a:latin typeface="Arial"/>
              <a:ea typeface="Arial"/>
              <a:cs typeface="Arial"/>
              <a:sym typeface="Arial"/>
            </a:endParaRPr>
          </a:p>
          <a:p>
            <a:pPr indent="-298450" lvl="1" marL="914400" rtl="0" algn="l">
              <a:lnSpc>
                <a:spcPct val="150000"/>
              </a:lnSpc>
              <a:spcBef>
                <a:spcPts val="0"/>
              </a:spcBef>
              <a:spcAft>
                <a:spcPts val="0"/>
              </a:spcAft>
              <a:buClr>
                <a:srgbClr val="DFE1E5"/>
              </a:buClr>
              <a:buSzPts val="1100"/>
              <a:buFont typeface="Arial"/>
              <a:buChar char="○"/>
            </a:pPr>
            <a:r>
              <a:rPr lang="en-GB">
                <a:solidFill>
                  <a:srgbClr val="DFE1E5"/>
                </a:solidFill>
                <a:latin typeface="Arial"/>
                <a:ea typeface="Arial"/>
                <a:cs typeface="Arial"/>
                <a:sym typeface="Arial"/>
              </a:rPr>
              <a:t>7 telemetry streams (Solar Array, Power Bus, Power Consumption, Radiation, Life Support, Thermal Loop, Airlock)</a:t>
            </a:r>
            <a:endParaRPr>
              <a:solidFill>
                <a:srgbClr val="DFE1E5"/>
              </a:solidFill>
              <a:latin typeface="Arial"/>
              <a:ea typeface="Arial"/>
              <a:cs typeface="Arial"/>
              <a:sym typeface="Arial"/>
            </a:endParaRPr>
          </a:p>
          <a:p>
            <a:pPr indent="-298450" lvl="1" marL="914400" rtl="0" algn="l">
              <a:lnSpc>
                <a:spcPct val="150000"/>
              </a:lnSpc>
              <a:spcBef>
                <a:spcPts val="0"/>
              </a:spcBef>
              <a:spcAft>
                <a:spcPts val="0"/>
              </a:spcAft>
              <a:buClr>
                <a:srgbClr val="DFE1E5"/>
              </a:buClr>
              <a:buSzPts val="1100"/>
              <a:buFont typeface="Arial"/>
              <a:buChar char="○"/>
            </a:pPr>
            <a:r>
              <a:rPr lang="en-GB">
                <a:solidFill>
                  <a:srgbClr val="DFE1E5"/>
                </a:solidFill>
                <a:latin typeface="Arial"/>
                <a:ea typeface="Arial"/>
                <a:cs typeface="Arial"/>
                <a:sym typeface="Arial"/>
              </a:rPr>
              <a:t>Mechanism: @PostConstruct startup → async stream connections → continuous event reading → real-time Kafka publish</a:t>
            </a:r>
            <a:endParaRPr>
              <a:solidFill>
                <a:srgbClr val="DFE1E5"/>
              </a:solidFill>
              <a:latin typeface="Arial"/>
              <a:ea typeface="Arial"/>
              <a:cs typeface="Arial"/>
              <a:sym typeface="Arial"/>
            </a:endParaRPr>
          </a:p>
          <a:p>
            <a:pPr indent="0" lvl="0" marL="0" rtl="0" algn="l">
              <a:lnSpc>
                <a:spcPct val="150000"/>
              </a:lnSpc>
              <a:spcBef>
                <a:spcPts val="1200"/>
              </a:spcBef>
              <a:spcAft>
                <a:spcPts val="0"/>
              </a:spcAft>
              <a:buNone/>
            </a:pPr>
            <a:r>
              <a:t/>
            </a:r>
            <a:endParaRPr sz="1100">
              <a:solidFill>
                <a:srgbClr val="DFE1E5"/>
              </a:solidFill>
              <a:latin typeface="Arial"/>
              <a:ea typeface="Arial"/>
              <a:cs typeface="Arial"/>
              <a:sym typeface="Arial"/>
            </a:endParaRPr>
          </a:p>
          <a:p>
            <a:pPr indent="-330200" lvl="0" marL="457200" rtl="0" algn="l">
              <a:spcBef>
                <a:spcPts val="1200"/>
              </a:spcBef>
              <a:spcAft>
                <a:spcPts val="0"/>
              </a:spcAft>
              <a:buSzPts val="1600"/>
              <a:buChar char="●"/>
            </a:pPr>
            <a:r>
              <a:t/>
            </a:r>
            <a:endParaRPr sz="1600"/>
          </a:p>
          <a:p>
            <a:pPr indent="0" lvl="0" marL="0" rtl="0" algn="l">
              <a:spcBef>
                <a:spcPts val="1200"/>
              </a:spcBef>
              <a:spcAft>
                <a:spcPts val="1200"/>
              </a:spcAft>
              <a:buNone/>
            </a:pPr>
            <a:r>
              <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descr="do the same style as last ones that i liked" id="152" name="Google Shape;152;p16"/>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6" name="Shape 156"/>
        <p:cNvGrpSpPr/>
        <p:nvPr/>
      </p:nvGrpSpPr>
      <p:grpSpPr>
        <a:xfrm>
          <a:off x="0" y="0"/>
          <a:ext cx="0" cy="0"/>
          <a:chOff x="0" y="0"/>
          <a:chExt cx="0" cy="0"/>
        </a:xfrm>
      </p:grpSpPr>
      <p:sp>
        <p:nvSpPr>
          <p:cNvPr id="157" name="Google Shape;157;p17"/>
          <p:cNvSpPr txBox="1"/>
          <p:nvPr>
            <p:ph type="ctrTitle"/>
          </p:nvPr>
        </p:nvSpPr>
        <p:spPr>
          <a:xfrm>
            <a:off x="30425" y="129100"/>
            <a:ext cx="8986200" cy="8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GB">
                <a:latin typeface="Calibri"/>
                <a:ea typeface="Calibri"/>
                <a:cs typeface="Calibri"/>
                <a:sym typeface="Calibri"/>
              </a:rPr>
              <a:t>Mars Ingestion Service : Normalization</a:t>
            </a:r>
            <a:endParaRPr/>
          </a:p>
        </p:txBody>
      </p:sp>
      <p:sp>
        <p:nvSpPr>
          <p:cNvPr id="158" name="Google Shape;158;p17"/>
          <p:cNvSpPr txBox="1"/>
          <p:nvPr>
            <p:ph idx="4294967295" type="body"/>
          </p:nvPr>
        </p:nvSpPr>
        <p:spPr>
          <a:xfrm>
            <a:off x="1297500" y="1241050"/>
            <a:ext cx="7348500" cy="354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600"/>
              <a:t>Role</a:t>
            </a:r>
            <a:r>
              <a:rPr lang="en-GB" sz="1600"/>
              <a:t>: Transform raw sensor data into a unified event schema</a:t>
            </a:r>
            <a:br>
              <a:rPr lang="en-GB" sz="1600"/>
            </a:br>
            <a:r>
              <a:rPr b="1" lang="en-GB" sz="1600"/>
              <a:t>Tech</a:t>
            </a:r>
            <a:r>
              <a:rPr lang="en-GB" sz="1600"/>
              <a:t>: </a:t>
            </a:r>
            <a:r>
              <a:rPr lang="en-GB" sz="1000">
                <a:solidFill>
                  <a:srgbClr val="DFE1E5"/>
                </a:solidFill>
                <a:latin typeface="Arial"/>
                <a:ea typeface="Arial"/>
                <a:cs typeface="Arial"/>
                <a:sym typeface="Arial"/>
              </a:rPr>
              <a:t>Java + Object mapper</a:t>
            </a:r>
            <a:endParaRPr sz="1600"/>
          </a:p>
          <a:p>
            <a:pPr indent="-298450" lvl="0" marL="457200" rtl="0" algn="l">
              <a:lnSpc>
                <a:spcPct val="150000"/>
              </a:lnSpc>
              <a:spcBef>
                <a:spcPts val="1200"/>
              </a:spcBef>
              <a:spcAft>
                <a:spcPts val="0"/>
              </a:spcAft>
              <a:buClr>
                <a:srgbClr val="DFE1E5"/>
              </a:buClr>
              <a:buSzPts val="1100"/>
              <a:buFont typeface="Arial"/>
              <a:buChar char="●"/>
            </a:pPr>
            <a:r>
              <a:rPr lang="en-GB" sz="1000">
                <a:solidFill>
                  <a:srgbClr val="DFE1E5"/>
                </a:solidFill>
                <a:latin typeface="Arial"/>
                <a:ea typeface="Arial"/>
                <a:cs typeface="Arial"/>
                <a:sym typeface="Arial"/>
              </a:rPr>
              <a:t>Its fundamental purpose is to solve the heterogeneity problem - we receive data from 10+ different sensor types with varying formats. The Normalizer acts as a universal translator, converting these  formats into a single standardized </a:t>
            </a:r>
            <a:r>
              <a:rPr lang="en-GB" sz="1000">
                <a:solidFill>
                  <a:srgbClr val="DFE1E5"/>
                </a:solidFill>
                <a:latin typeface="Arial"/>
                <a:ea typeface="Arial"/>
                <a:cs typeface="Arial"/>
                <a:sym typeface="Arial"/>
              </a:rPr>
              <a:t>Event</a:t>
            </a:r>
            <a:r>
              <a:rPr lang="en-GB" sz="1000">
                <a:solidFill>
                  <a:srgbClr val="DFE1E5"/>
                </a:solidFill>
                <a:latin typeface="Arial"/>
                <a:ea typeface="Arial"/>
                <a:cs typeface="Arial"/>
                <a:sym typeface="Arial"/>
              </a:rPr>
              <a:t> schema with consistent fields: timestamp, sensor name, value, unit, and status.</a:t>
            </a:r>
            <a:endParaRPr sz="1000">
              <a:solidFill>
                <a:srgbClr val="DFE1E5"/>
              </a:solidFill>
              <a:latin typeface="Arial"/>
              <a:ea typeface="Arial"/>
              <a:cs typeface="Arial"/>
              <a:sym typeface="Arial"/>
            </a:endParaRPr>
          </a:p>
          <a:p>
            <a:pPr indent="-292100" lvl="0" marL="457200" rtl="0" algn="l">
              <a:lnSpc>
                <a:spcPct val="150000"/>
              </a:lnSpc>
              <a:spcBef>
                <a:spcPts val="0"/>
              </a:spcBef>
              <a:spcAft>
                <a:spcPts val="0"/>
              </a:spcAft>
              <a:buClr>
                <a:srgbClr val="DFE1E5"/>
              </a:buClr>
              <a:buSzPts val="1000"/>
              <a:buFont typeface="Arial"/>
              <a:buChar char="●"/>
            </a:pPr>
            <a:r>
              <a:rPr lang="en-GB" sz="1000">
                <a:solidFill>
                  <a:srgbClr val="DFE1E5"/>
                </a:solidFill>
                <a:latin typeface="Arial"/>
                <a:ea typeface="Arial"/>
                <a:cs typeface="Arial"/>
                <a:sym typeface="Arial"/>
              </a:rPr>
              <a:t>It's intelligent about transformations too - simple scalar sensors map 1:1, but complex sensors like particulate monitors expand into multiple events (PM1, PM2.5, PM10). The chemistry sensor splits into individual metric events, and water level sensors generate both percentage and liter readings. </a:t>
            </a:r>
            <a:endParaRPr sz="1000">
              <a:solidFill>
                <a:srgbClr val="DFE1E5"/>
              </a:solidFill>
              <a:latin typeface="Arial"/>
              <a:ea typeface="Arial"/>
              <a:cs typeface="Arial"/>
              <a:sym typeface="Arial"/>
            </a:endParaRPr>
          </a:p>
          <a:p>
            <a:pPr indent="-292100" lvl="0" marL="457200" rtl="0" algn="l">
              <a:lnSpc>
                <a:spcPct val="150000"/>
              </a:lnSpc>
              <a:spcBef>
                <a:spcPts val="0"/>
              </a:spcBef>
              <a:spcAft>
                <a:spcPts val="0"/>
              </a:spcAft>
              <a:buClr>
                <a:srgbClr val="DFE1E5"/>
              </a:buClr>
              <a:buSzPts val="1000"/>
              <a:buFont typeface="Arial"/>
              <a:buChar char="●"/>
            </a:pPr>
            <a:r>
              <a:rPr lang="en-GB" sz="1000">
                <a:solidFill>
                  <a:srgbClr val="DFE1E5"/>
                </a:solidFill>
                <a:latin typeface="Arial"/>
                <a:ea typeface="Arial"/>
                <a:cs typeface="Arial"/>
                <a:sym typeface="Arial"/>
              </a:rPr>
              <a:t>This normalization layer is what enables downstream services to consume all Mars habitat data through a single, predictable interface. </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descr="Beautify this slide" id="163" name="Google Shape;163;p18"/>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7" name="Shape 167"/>
        <p:cNvGrpSpPr/>
        <p:nvPr/>
      </p:nvGrpSpPr>
      <p:grpSpPr>
        <a:xfrm>
          <a:off x="0" y="0"/>
          <a:ext cx="0" cy="0"/>
          <a:chOff x="0" y="0"/>
          <a:chExt cx="0" cy="0"/>
        </a:xfrm>
      </p:grpSpPr>
      <p:sp>
        <p:nvSpPr>
          <p:cNvPr id="168" name="Google Shape;168;p19"/>
          <p:cNvSpPr txBox="1"/>
          <p:nvPr>
            <p:ph type="ctrTitle"/>
          </p:nvPr>
        </p:nvSpPr>
        <p:spPr>
          <a:xfrm>
            <a:off x="182475" y="113900"/>
            <a:ext cx="8859600" cy="7764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lang="en-GB">
                <a:latin typeface="Calibri"/>
                <a:ea typeface="Calibri"/>
                <a:cs typeface="Calibri"/>
                <a:sym typeface="Calibri"/>
              </a:rPr>
              <a:t>Mars Ingestion Service : Kafka Producer</a:t>
            </a:r>
            <a:endParaRPr/>
          </a:p>
        </p:txBody>
      </p:sp>
      <p:sp>
        <p:nvSpPr>
          <p:cNvPr id="169" name="Google Shape;169;p19"/>
          <p:cNvSpPr txBox="1"/>
          <p:nvPr>
            <p:ph idx="4294967295" type="body"/>
          </p:nvPr>
        </p:nvSpPr>
        <p:spPr>
          <a:xfrm>
            <a:off x="1297500" y="1241050"/>
            <a:ext cx="7348500" cy="354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600"/>
              <a:t>Role</a:t>
            </a:r>
            <a:r>
              <a:rPr lang="en-GB" sz="1600"/>
              <a:t>: </a:t>
            </a:r>
            <a:r>
              <a:rPr lang="en-GB" sz="1000">
                <a:solidFill>
                  <a:srgbClr val="DFE1E5"/>
                </a:solidFill>
                <a:latin typeface="Arial"/>
                <a:ea typeface="Arial"/>
                <a:cs typeface="Arial"/>
                <a:sym typeface="Arial"/>
              </a:rPr>
              <a:t>Publishes normalized Mars telemetry data from the ingestion services to Kafka topics for downstream consumption</a:t>
            </a:r>
            <a:br>
              <a:rPr lang="en-GB" sz="1600"/>
            </a:br>
            <a:r>
              <a:rPr b="1" lang="en-GB" sz="1600"/>
              <a:t>Tech</a:t>
            </a:r>
            <a:r>
              <a:rPr lang="en-GB" sz="1600"/>
              <a:t>: </a:t>
            </a:r>
            <a:r>
              <a:rPr lang="en-GB" sz="1000">
                <a:solidFill>
                  <a:srgbClr val="DFE1E5"/>
                </a:solidFill>
                <a:latin typeface="Arial"/>
                <a:ea typeface="Arial"/>
                <a:cs typeface="Arial"/>
                <a:sym typeface="Arial"/>
              </a:rPr>
              <a:t>CompletableFuture</a:t>
            </a:r>
            <a:r>
              <a:rPr lang="en-GB" sz="1000">
                <a:solidFill>
                  <a:srgbClr val="DFE1E5"/>
                </a:solidFill>
                <a:latin typeface="Arial"/>
                <a:ea typeface="Arial"/>
                <a:cs typeface="Arial"/>
                <a:sym typeface="Arial"/>
              </a:rPr>
              <a:t> ,</a:t>
            </a:r>
            <a:r>
              <a:rPr lang="en-GB" sz="1000">
                <a:solidFill>
                  <a:srgbClr val="DFE1E5"/>
                </a:solidFill>
                <a:latin typeface="Arial"/>
                <a:ea typeface="Arial"/>
                <a:cs typeface="Arial"/>
                <a:sym typeface="Arial"/>
              </a:rPr>
              <a:t>Apache Kafka</a:t>
            </a:r>
            <a:endParaRPr sz="1600"/>
          </a:p>
          <a:p>
            <a:pPr indent="-298450" lvl="0" marL="457200" rtl="0" algn="l">
              <a:lnSpc>
                <a:spcPct val="150000"/>
              </a:lnSpc>
              <a:spcBef>
                <a:spcPts val="1200"/>
              </a:spcBef>
              <a:spcAft>
                <a:spcPts val="0"/>
              </a:spcAft>
              <a:buClr>
                <a:srgbClr val="DFE1E5"/>
              </a:buClr>
              <a:buSzPts val="1100"/>
              <a:buFont typeface="Arial"/>
              <a:buChar char="●"/>
            </a:pPr>
            <a:r>
              <a:rPr lang="en-GB" sz="1000">
                <a:solidFill>
                  <a:srgbClr val="DFE1E5"/>
                </a:solidFill>
                <a:latin typeface="Arial"/>
                <a:ea typeface="Arial"/>
                <a:cs typeface="Arial"/>
                <a:sym typeface="Arial"/>
              </a:rPr>
              <a:t>The now normalized events are now ready to be published into our topic </a:t>
            </a:r>
            <a:r>
              <a:rPr lang="en-GB" sz="850">
                <a:solidFill>
                  <a:srgbClr val="DFE1E5"/>
                </a:solidFill>
                <a:latin typeface="Consolas"/>
                <a:ea typeface="Consolas"/>
                <a:cs typeface="Consolas"/>
                <a:sym typeface="Consolas"/>
              </a:rPr>
              <a:t>mars-telemetry-events</a:t>
            </a:r>
            <a:endParaRPr sz="850">
              <a:solidFill>
                <a:srgbClr val="DFE1E5"/>
              </a:solidFill>
              <a:latin typeface="Consolas"/>
              <a:ea typeface="Consolas"/>
              <a:cs typeface="Consolas"/>
              <a:sym typeface="Consolas"/>
            </a:endParaRPr>
          </a:p>
          <a:p>
            <a:pPr indent="-282575" lvl="0" marL="457200" rtl="0" algn="l">
              <a:lnSpc>
                <a:spcPct val="150000"/>
              </a:lnSpc>
              <a:spcBef>
                <a:spcPts val="0"/>
              </a:spcBef>
              <a:spcAft>
                <a:spcPts val="0"/>
              </a:spcAft>
              <a:buClr>
                <a:srgbClr val="DFE1E5"/>
              </a:buClr>
              <a:buSzPts val="850"/>
              <a:buFont typeface="Consolas"/>
              <a:buChar char="●"/>
            </a:pPr>
            <a:r>
              <a:rPr lang="en-GB" sz="850">
                <a:solidFill>
                  <a:srgbClr val="DFE1E5"/>
                </a:solidFill>
                <a:latin typeface="Consolas"/>
                <a:ea typeface="Consolas"/>
                <a:cs typeface="Consolas"/>
                <a:sym typeface="Consolas"/>
              </a:rPr>
              <a:t>The events are published asynchronously </a:t>
            </a:r>
            <a:r>
              <a:rPr lang="en-GB" sz="1100">
                <a:solidFill>
                  <a:srgbClr val="DFE1E5"/>
                </a:solidFill>
                <a:latin typeface="Arial"/>
                <a:ea typeface="Arial"/>
                <a:cs typeface="Arial"/>
                <a:sym typeface="Arial"/>
              </a:rPr>
              <a:t>, this prevents Kafka I/O from blocking the 5-second polling cycles - the ingestion services continue collecting data while Kafka processes messages in the background</a:t>
            </a:r>
            <a:endParaRPr sz="1100">
              <a:solidFill>
                <a:srgbClr val="DFE1E5"/>
              </a:solidFill>
              <a:latin typeface="Arial"/>
              <a:ea typeface="Arial"/>
              <a:cs typeface="Arial"/>
              <a:sym typeface="Arial"/>
            </a:endParaRPr>
          </a:p>
          <a:p>
            <a:pPr indent="-282575" lvl="0" marL="457200" rtl="0" algn="l">
              <a:lnSpc>
                <a:spcPct val="160000"/>
              </a:lnSpc>
              <a:spcBef>
                <a:spcPts val="0"/>
              </a:spcBef>
              <a:spcAft>
                <a:spcPts val="0"/>
              </a:spcAft>
              <a:buClr>
                <a:srgbClr val="DFE1E5"/>
              </a:buClr>
              <a:buSzPts val="850"/>
              <a:buFont typeface="Consolas"/>
              <a:buChar char="●"/>
            </a:pPr>
            <a:r>
              <a:rPr lang="en-GB" sz="1100">
                <a:solidFill>
                  <a:srgbClr val="DFE1E5"/>
                </a:solidFill>
                <a:latin typeface="Arial"/>
                <a:ea typeface="Arial"/>
                <a:cs typeface="Arial"/>
                <a:sym typeface="Arial"/>
              </a:rPr>
              <a:t>We use sensor names as message keys to ensure consistent partitioning - all readings from the same sensor go to the same partition, maintaining chronological order.</a:t>
            </a:r>
            <a:endParaRPr sz="1100">
              <a:solidFill>
                <a:srgbClr val="DFE1E5"/>
              </a:solidFill>
              <a:latin typeface="Arial"/>
              <a:ea typeface="Arial"/>
              <a:cs typeface="Arial"/>
              <a:sym typeface="Arial"/>
            </a:endParaRPr>
          </a:p>
          <a:p>
            <a:pPr indent="0" lvl="0" marL="0" rtl="0" algn="l">
              <a:spcBef>
                <a:spcPts val="900"/>
              </a:spcBef>
              <a:spcAft>
                <a:spcPts val="0"/>
              </a:spcAft>
              <a:buNone/>
            </a:pPr>
            <a:r>
              <a:t/>
            </a:r>
            <a:endParaRPr sz="850">
              <a:solidFill>
                <a:srgbClr val="DFE1E5"/>
              </a:solidFill>
              <a:latin typeface="Consolas"/>
              <a:ea typeface="Consolas"/>
              <a:cs typeface="Consolas"/>
              <a:sym typeface="Consolas"/>
            </a:endParaRPr>
          </a:p>
          <a:p>
            <a:pPr indent="0" lvl="0" marL="457200" rtl="0" algn="l">
              <a:lnSpc>
                <a:spcPct val="150000"/>
              </a:lnSpc>
              <a:spcBef>
                <a:spcPts val="500"/>
              </a:spcBef>
              <a:spcAft>
                <a:spcPts val="600"/>
              </a:spcAft>
              <a:buNone/>
            </a:pPr>
            <a:r>
              <a:t/>
            </a:r>
            <a:endParaRPr sz="16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descr="Beautify this slide" id="174" name="Google Shape;174;p20"/>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8" name="Shape 178"/>
        <p:cNvGrpSpPr/>
        <p:nvPr/>
      </p:nvGrpSpPr>
      <p:grpSpPr>
        <a:xfrm>
          <a:off x="0" y="0"/>
          <a:ext cx="0" cy="0"/>
          <a:chOff x="0" y="0"/>
          <a:chExt cx="0" cy="0"/>
        </a:xfrm>
      </p:grpSpPr>
      <p:sp>
        <p:nvSpPr>
          <p:cNvPr id="179" name="Google Shape;179;p21"/>
          <p:cNvSpPr txBox="1"/>
          <p:nvPr>
            <p:ph type="title"/>
          </p:nvPr>
        </p:nvSpPr>
        <p:spPr>
          <a:xfrm>
            <a:off x="1297500" y="393750"/>
            <a:ext cx="7038900" cy="914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GB"/>
              <a:t>Mars Message Consumer: The Event Processor </a:t>
            </a:r>
            <a:endParaRPr/>
          </a:p>
        </p:txBody>
      </p:sp>
      <p:sp>
        <p:nvSpPr>
          <p:cNvPr id="180" name="Google Shape;180;p21"/>
          <p:cNvSpPr txBox="1"/>
          <p:nvPr>
            <p:ph idx="1" type="body"/>
          </p:nvPr>
        </p:nvSpPr>
        <p:spPr>
          <a:xfrm>
            <a:off x="1297500" y="1241050"/>
            <a:ext cx="7348500" cy="354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600"/>
              <a:t>Role</a:t>
            </a:r>
            <a:r>
              <a:rPr lang="en-GB" sz="1600"/>
              <a:t>: The background worker handling high-throughput telemetry data.</a:t>
            </a:r>
            <a:br>
              <a:rPr lang="en-GB" sz="1600"/>
            </a:br>
            <a:r>
              <a:rPr b="1" lang="en-GB" sz="1600"/>
              <a:t>Tech</a:t>
            </a:r>
            <a:r>
              <a:rPr lang="en-GB" sz="1600"/>
              <a:t>: Python, confluent-kafka</a:t>
            </a:r>
            <a:endParaRPr sz="1600"/>
          </a:p>
          <a:p>
            <a:pPr indent="-330200" lvl="0" marL="457200" rtl="0" algn="l">
              <a:spcBef>
                <a:spcPts val="1200"/>
              </a:spcBef>
              <a:spcAft>
                <a:spcPts val="0"/>
              </a:spcAft>
              <a:buSzPts val="1600"/>
              <a:buChar char="●"/>
            </a:pPr>
            <a:r>
              <a:rPr lang="en-GB" sz="1600"/>
              <a:t>Listens to the mars-telemetry-events Kafka topic in an infinite loop. Kafka acts as a shock-absorber, preventing system crashes during data spikes.</a:t>
            </a:r>
            <a:endParaRPr sz="1600"/>
          </a:p>
          <a:p>
            <a:pPr indent="-330200" lvl="0" marL="457200" rtl="0" algn="l">
              <a:spcBef>
                <a:spcPts val="0"/>
              </a:spcBef>
              <a:spcAft>
                <a:spcPts val="0"/>
              </a:spcAft>
              <a:buSzPts val="1600"/>
              <a:buChar char="●"/>
            </a:pPr>
            <a:r>
              <a:rPr lang="en-GB" sz="1600"/>
              <a:t>For every reading, it queries the DB Manager (PostgreSQL) to check if the new value triggers any Automation Rules (e.g., "if temp &gt; 35, turn on fan").</a:t>
            </a:r>
            <a:endParaRPr sz="1600"/>
          </a:p>
          <a:p>
            <a:pPr indent="-330200" lvl="0" marL="457200" rtl="0" algn="l">
              <a:spcBef>
                <a:spcPts val="0"/>
              </a:spcBef>
              <a:spcAft>
                <a:spcPts val="0"/>
              </a:spcAft>
              <a:buSzPts val="1600"/>
              <a:buChar char="●"/>
            </a:pPr>
            <a:r>
              <a:rPr lang="en-GB" sz="1600"/>
              <a:t>If rules trigger, it commands the API Gateway to physically toggle the actuator. It then saves the new reading to the Cache and tells the Gateway to broadcast it.</a:t>
            </a:r>
            <a:endParaRPr sz="16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descr="Beautify this slide" id="185" name="Google Shape;185;p22"/>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9" name="Shape 189"/>
        <p:cNvGrpSpPr/>
        <p:nvPr/>
      </p:nvGrpSpPr>
      <p:grpSpPr>
        <a:xfrm>
          <a:off x="0" y="0"/>
          <a:ext cx="0" cy="0"/>
          <a:chOff x="0" y="0"/>
          <a:chExt cx="0" cy="0"/>
        </a:xfrm>
      </p:grpSpPr>
      <p:sp>
        <p:nvSpPr>
          <p:cNvPr id="190" name="Google Shape;190;p23"/>
          <p:cNvSpPr txBox="1"/>
          <p:nvPr>
            <p:ph type="title"/>
          </p:nvPr>
        </p:nvSpPr>
        <p:spPr>
          <a:xfrm>
            <a:off x="1297500" y="393750"/>
            <a:ext cx="7038900" cy="914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t>Mars Memory Cache: The Real-Time State </a:t>
            </a:r>
            <a:endParaRPr/>
          </a:p>
        </p:txBody>
      </p:sp>
      <p:sp>
        <p:nvSpPr>
          <p:cNvPr id="191" name="Google Shape;191;p23"/>
          <p:cNvSpPr txBox="1"/>
          <p:nvPr>
            <p:ph idx="1" type="body"/>
          </p:nvPr>
        </p:nvSpPr>
        <p:spPr>
          <a:xfrm>
            <a:off x="1297500" y="1241050"/>
            <a:ext cx="7348500" cy="354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600"/>
              <a:t>Role</a:t>
            </a:r>
            <a:r>
              <a:rPr lang="en-GB" sz="1600"/>
              <a:t>: </a:t>
            </a:r>
            <a:r>
              <a:rPr lang="en-GB" sz="1600"/>
              <a:t>The ultra-fast holder of the facility's current status.</a:t>
            </a:r>
            <a:br>
              <a:rPr lang="en-GB" sz="1600"/>
            </a:br>
            <a:r>
              <a:rPr b="1" lang="en-GB" sz="1600"/>
              <a:t>Tech</a:t>
            </a:r>
            <a:r>
              <a:rPr lang="en-GB" sz="1600"/>
              <a:t>: </a:t>
            </a:r>
            <a:r>
              <a:rPr lang="en-GB" sz="1600"/>
              <a:t>Python, FastAPI, Redis</a:t>
            </a:r>
            <a:endParaRPr sz="1600"/>
          </a:p>
          <a:p>
            <a:pPr indent="-330200" lvl="0" marL="457200" rtl="0" algn="l">
              <a:spcBef>
                <a:spcPts val="1200"/>
              </a:spcBef>
              <a:spcAft>
                <a:spcPts val="0"/>
              </a:spcAft>
              <a:buSzPts val="1600"/>
              <a:buChar char="●"/>
            </a:pPr>
            <a:r>
              <a:rPr lang="en-GB" sz="1600"/>
              <a:t>Redis stores data entirely in RAM. It eliminates slow disk reads when checking the last known value of a sensor.</a:t>
            </a:r>
            <a:endParaRPr sz="1600"/>
          </a:p>
          <a:p>
            <a:pPr indent="-330200" lvl="0" marL="457200" rtl="0" algn="l">
              <a:spcBef>
                <a:spcPts val="0"/>
              </a:spcBef>
              <a:spcAft>
                <a:spcPts val="0"/>
              </a:spcAft>
              <a:buSzPts val="1600"/>
              <a:buChar char="●"/>
            </a:pPr>
            <a:r>
              <a:rPr lang="en-GB" sz="1600"/>
              <a:t>It only stores the absolute latest state of every sensor. (e.g., it overwrites temp: 22 with temp: 23).</a:t>
            </a:r>
            <a:endParaRPr sz="1600"/>
          </a:p>
          <a:p>
            <a:pPr indent="-330200" lvl="0" marL="457200" rtl="0" algn="l">
              <a:spcBef>
                <a:spcPts val="0"/>
              </a:spcBef>
              <a:spcAft>
                <a:spcPts val="0"/>
              </a:spcAft>
              <a:buSzPts val="1600"/>
              <a:buChar char="●"/>
            </a:pPr>
            <a:r>
              <a:rPr lang="en-GB" sz="1600"/>
              <a:t>If rules trigger, it commands the API Gateway to physically toggle the actuator. </a:t>
            </a:r>
            <a:r>
              <a:rPr lang="en-GB" sz="1600"/>
              <a:t>When a user opens the dashboard, the Gateway fetches this entire cache instantly. This makes the UI feel infinitely responsive without hammering a traditional database.</a:t>
            </a: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descr="Beautify this slide" id="196" name="Google Shape;196;p24"/>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0" name="Shape 200"/>
        <p:cNvGrpSpPr/>
        <p:nvPr/>
      </p:nvGrpSpPr>
      <p:grpSpPr>
        <a:xfrm>
          <a:off x="0" y="0"/>
          <a:ext cx="0" cy="0"/>
          <a:chOff x="0" y="0"/>
          <a:chExt cx="0" cy="0"/>
        </a:xfrm>
      </p:grpSpPr>
      <p:sp>
        <p:nvSpPr>
          <p:cNvPr id="201" name="Google Shape;201;p25"/>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Relational DB implementation with Postgres 15</a:t>
            </a:r>
            <a:endParaRPr/>
          </a:p>
        </p:txBody>
      </p:sp>
      <p:sp>
        <p:nvSpPr>
          <p:cNvPr id="202" name="Google Shape;202;p2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GB"/>
              <a:t>Rule schema designed to natively map the automation rules </a:t>
            </a:r>
            <a:r>
              <a:rPr lang="en-GB"/>
              <a:t>expressed by IF-THEN-ELSE conditions</a:t>
            </a:r>
            <a:endParaRPr/>
          </a:p>
          <a:p>
            <a:pPr indent="0" lvl="0" marL="0" rtl="0" algn="l">
              <a:spcBef>
                <a:spcPts val="1200"/>
              </a:spcBef>
              <a:spcAft>
                <a:spcPts val="0"/>
              </a:spcAft>
              <a:buNone/>
            </a:pPr>
            <a:r>
              <a:rPr lang="en-GB"/>
              <a:t>Table: | sensor_name | operator | threshold_value | actuator_device | actuator_state |</a:t>
            </a:r>
            <a:endParaRPr/>
          </a:p>
          <a:p>
            <a:pPr indent="0" lvl="0" marL="0" rtl="0" algn="l">
              <a:spcBef>
                <a:spcPts val="1200"/>
              </a:spcBef>
              <a:spcAft>
                <a:spcPts val="0"/>
              </a:spcAft>
              <a:buNone/>
            </a:pPr>
            <a:r>
              <a:rPr lang="en-GB"/>
              <a:t>Row: |temperature | &gt; | 30 °C | cooling fan | ON |</a:t>
            </a:r>
            <a:endParaRPr/>
          </a:p>
          <a:p>
            <a:pPr indent="-311150" lvl="0" marL="457200" rtl="0" algn="l">
              <a:spcBef>
                <a:spcPts val="1200"/>
              </a:spcBef>
              <a:spcAft>
                <a:spcPts val="0"/>
              </a:spcAft>
              <a:buSzPts val="1300"/>
              <a:buChar char="-"/>
            </a:pPr>
            <a:r>
              <a:rPr lang="en-GB"/>
              <a:t>Dedicated microservice (with Python/FastAPI) to separate database logic from the rest of the system</a:t>
            </a:r>
            <a:endParaRPr/>
          </a:p>
          <a:p>
            <a:pPr indent="-311150" lvl="0" marL="457200" rtl="0" algn="l">
              <a:spcBef>
                <a:spcPts val="0"/>
              </a:spcBef>
              <a:spcAft>
                <a:spcPts val="0"/>
              </a:spcAft>
              <a:buSzPts val="1300"/>
              <a:buChar char="-"/>
            </a:pPr>
            <a:r>
              <a:rPr lang="en-GB"/>
              <a:t>Secure endpoints exposed for data operations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pic>
        <p:nvPicPr>
          <p:cNvPr descr="Beautify this slide" id="207" name="Google Shape;207;p26"/>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1" name="Shape 211"/>
        <p:cNvGrpSpPr/>
        <p:nvPr/>
      </p:nvGrpSpPr>
      <p:grpSpPr>
        <a:xfrm>
          <a:off x="0" y="0"/>
          <a:ext cx="0" cy="0"/>
          <a:chOff x="0" y="0"/>
          <a:chExt cx="0" cy="0"/>
        </a:xfrm>
      </p:grpSpPr>
      <p:sp>
        <p:nvSpPr>
          <p:cNvPr id="212" name="Google Shape;212;p2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Rule Evaluation &amp; Actuation</a:t>
            </a:r>
            <a:endParaRPr/>
          </a:p>
        </p:txBody>
      </p:sp>
      <p:sp>
        <p:nvSpPr>
          <p:cNvPr id="213" name="Google Shape;213;p27"/>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GB"/>
              <a:t>Event driven automation engine</a:t>
            </a:r>
            <a:endParaRPr/>
          </a:p>
          <a:p>
            <a:pPr indent="-311150" lvl="0" marL="457200" rtl="0" algn="l">
              <a:spcBef>
                <a:spcPts val="0"/>
              </a:spcBef>
              <a:spcAft>
                <a:spcPts val="0"/>
              </a:spcAft>
              <a:buSzPts val="1300"/>
              <a:buChar char="-"/>
            </a:pPr>
            <a:r>
              <a:rPr lang="en-GB"/>
              <a:t>Continuous and asynchronous listening to normalized telemetry streams arriving from Kafka</a:t>
            </a:r>
            <a:endParaRPr/>
          </a:p>
          <a:p>
            <a:pPr indent="-311150" lvl="0" marL="457200" rtl="0" algn="l">
              <a:spcBef>
                <a:spcPts val="0"/>
              </a:spcBef>
              <a:spcAft>
                <a:spcPts val="0"/>
              </a:spcAft>
              <a:buSzPts val="1300"/>
              <a:buChar char="-"/>
            </a:pPr>
            <a:r>
              <a:rPr lang="en-GB"/>
              <a:t>Real time rule evaluation with dynamic db queries</a:t>
            </a:r>
            <a:endParaRPr/>
          </a:p>
          <a:p>
            <a:pPr indent="-311150" lvl="0" marL="457200" rtl="0" algn="l">
              <a:spcBef>
                <a:spcPts val="0"/>
              </a:spcBef>
              <a:spcAft>
                <a:spcPts val="0"/>
              </a:spcAft>
              <a:buSzPts val="1300"/>
              <a:buChar char="-"/>
            </a:pPr>
            <a:r>
              <a:rPr lang="en-GB"/>
              <a:t>Actuator triggering: When a threshold is breached, the consumer instantly sends an execution command to the API Gateway to change the habitat's  parameters.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pic>
        <p:nvPicPr>
          <p:cNvPr descr="Beautify this slide" id="218" name="Google Shape;218;p28"/>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2" name="Shape 222"/>
        <p:cNvGrpSpPr/>
        <p:nvPr/>
      </p:nvGrpSpPr>
      <p:grpSpPr>
        <a:xfrm>
          <a:off x="0" y="0"/>
          <a:ext cx="0" cy="0"/>
          <a:chOff x="0" y="0"/>
          <a:chExt cx="0" cy="0"/>
        </a:xfrm>
      </p:grpSpPr>
      <p:sp>
        <p:nvSpPr>
          <p:cNvPr id="223" name="Google Shape;223;p2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Middleware &amp; API Gateway</a:t>
            </a:r>
            <a:endParaRPr/>
          </a:p>
        </p:txBody>
      </p:sp>
      <p:sp>
        <p:nvSpPr>
          <p:cNvPr id="224" name="Google Shape;224;p29"/>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GB" sz="1100">
                <a:latin typeface="Roboto Mono"/>
                <a:ea typeface="Roboto Mono"/>
                <a:cs typeface="Roboto Mono"/>
                <a:sym typeface="Roboto Mono"/>
              </a:rPr>
              <a:t>mars_api_gateway</a:t>
            </a:r>
            <a:r>
              <a:rPr lang="en-GB" sz="1100">
                <a:latin typeface="Arial"/>
                <a:ea typeface="Arial"/>
                <a:cs typeface="Arial"/>
                <a:sym typeface="Arial"/>
              </a:rPr>
              <a:t> as the sole middleware routing traffic between the React Dashboard and internal services</a:t>
            </a:r>
            <a:endParaRPr sz="1100">
              <a:latin typeface="Arial"/>
              <a:ea typeface="Arial"/>
              <a:cs typeface="Arial"/>
              <a:sym typeface="Arial"/>
            </a:endParaRPr>
          </a:p>
          <a:p>
            <a:pPr indent="0" lvl="0" marL="457200" rtl="0" algn="l">
              <a:spcBef>
                <a:spcPts val="1200"/>
              </a:spcBef>
              <a:spcAft>
                <a:spcPts val="0"/>
              </a:spcAft>
              <a:buNone/>
            </a:pPr>
            <a:r>
              <a:t/>
            </a:r>
            <a:endParaRPr sz="1100">
              <a:latin typeface="Arial"/>
              <a:ea typeface="Arial"/>
              <a:cs typeface="Arial"/>
              <a:sym typeface="Arial"/>
            </a:endParaRPr>
          </a:p>
          <a:p>
            <a:pPr indent="-298450" lvl="0" marL="457200" rtl="0" algn="l">
              <a:spcBef>
                <a:spcPts val="1200"/>
              </a:spcBef>
              <a:spcAft>
                <a:spcPts val="0"/>
              </a:spcAft>
              <a:buSzPts val="1100"/>
              <a:buFont typeface="Arial"/>
              <a:buChar char="-"/>
            </a:pPr>
            <a:r>
              <a:rPr lang="en-GB" sz="1100">
                <a:latin typeface="Arial"/>
                <a:ea typeface="Arial"/>
                <a:cs typeface="Arial"/>
                <a:sym typeface="Arial"/>
              </a:rPr>
              <a:t>Implemented routing functions for creating (POST), reading (GET), and deleting (DELETE) rules</a:t>
            </a:r>
            <a:endParaRPr sz="1100">
              <a:latin typeface="Arial"/>
              <a:ea typeface="Arial"/>
              <a:cs typeface="Arial"/>
              <a:sym typeface="Arial"/>
            </a:endParaRPr>
          </a:p>
          <a:p>
            <a:pPr indent="0" lvl="0" marL="0" rtl="0" algn="l">
              <a:spcBef>
                <a:spcPts val="1200"/>
              </a:spcBef>
              <a:spcAft>
                <a:spcPts val="0"/>
              </a:spcAft>
              <a:buNone/>
            </a:pPr>
            <a:r>
              <a:t/>
            </a:r>
            <a:endParaRPr sz="1100">
              <a:latin typeface="Arial"/>
              <a:ea typeface="Arial"/>
              <a:cs typeface="Arial"/>
              <a:sym typeface="Arial"/>
            </a:endParaRPr>
          </a:p>
          <a:p>
            <a:pPr indent="-298450" lvl="0" marL="457200" rtl="0" algn="l">
              <a:spcBef>
                <a:spcPts val="1200"/>
              </a:spcBef>
              <a:spcAft>
                <a:spcPts val="0"/>
              </a:spcAft>
              <a:buSzPts val="1100"/>
              <a:buFont typeface="Arial"/>
              <a:buChar char="-"/>
            </a:pPr>
            <a:r>
              <a:rPr lang="en-GB" sz="1100">
                <a:latin typeface="Arial"/>
                <a:ea typeface="Arial"/>
                <a:cs typeface="Arial"/>
                <a:sym typeface="Arial"/>
              </a:rPr>
              <a:t>Core services protected: the gateway is the only endpoint exposed!</a:t>
            </a:r>
            <a:endParaRPr sz="1100">
              <a:latin typeface="Arial"/>
              <a:ea typeface="Arial"/>
              <a:cs typeface="Arial"/>
              <a:sym typeface="Arial"/>
            </a:endParaRPr>
          </a:p>
          <a:p>
            <a:pPr indent="0" lvl="0" marL="0" rtl="0" algn="l">
              <a:spcBef>
                <a:spcPts val="1200"/>
              </a:spcBef>
              <a:spcAft>
                <a:spcPts val="1200"/>
              </a:spcAft>
              <a:buNone/>
            </a:pPr>
            <a:r>
              <a:t/>
            </a:r>
            <a:endParaRPr sz="1100">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pic>
        <p:nvPicPr>
          <p:cNvPr descr="Beautify this slide" id="229" name="Google Shape;229;p30"/>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3" name="Shape 233"/>
        <p:cNvGrpSpPr/>
        <p:nvPr/>
      </p:nvGrpSpPr>
      <p:grpSpPr>
        <a:xfrm>
          <a:off x="0" y="0"/>
          <a:ext cx="0" cy="0"/>
          <a:chOff x="0" y="0"/>
          <a:chExt cx="0" cy="0"/>
        </a:xfrm>
      </p:grpSpPr>
      <p:sp>
        <p:nvSpPr>
          <p:cNvPr id="234" name="Google Shape;234;p31"/>
          <p:cNvSpPr txBox="1"/>
          <p:nvPr>
            <p:ph type="title"/>
          </p:nvPr>
        </p:nvSpPr>
        <p:spPr>
          <a:xfrm>
            <a:off x="1297500" y="393750"/>
            <a:ext cx="7038900" cy="914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t>Mars API Gateway: The Frontend BFF </a:t>
            </a:r>
            <a:endParaRPr/>
          </a:p>
        </p:txBody>
      </p:sp>
      <p:sp>
        <p:nvSpPr>
          <p:cNvPr id="235" name="Google Shape;235;p31"/>
          <p:cNvSpPr txBox="1"/>
          <p:nvPr>
            <p:ph idx="1" type="body"/>
          </p:nvPr>
        </p:nvSpPr>
        <p:spPr>
          <a:xfrm>
            <a:off x="1297500" y="1241050"/>
            <a:ext cx="7348500" cy="354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600"/>
              <a:t>Role</a:t>
            </a:r>
            <a:r>
              <a:rPr lang="en-GB" sz="1600"/>
              <a:t>: </a:t>
            </a:r>
            <a:r>
              <a:rPr lang="en-GB" sz="1600"/>
              <a:t>The central hub ("Backend-for-Frontend") connecting React to the microservices.</a:t>
            </a:r>
            <a:br>
              <a:rPr lang="en-GB" sz="1600"/>
            </a:br>
            <a:r>
              <a:rPr b="1" lang="en-GB" sz="1600"/>
              <a:t>Tech</a:t>
            </a:r>
            <a:r>
              <a:rPr lang="en-GB" sz="1600"/>
              <a:t>: </a:t>
            </a:r>
            <a:r>
              <a:rPr lang="en-GB" sz="1600"/>
              <a:t>Python, FastAPI, WebSockets</a:t>
            </a:r>
            <a:endParaRPr sz="1600"/>
          </a:p>
          <a:p>
            <a:pPr indent="-330200" lvl="0" marL="457200" rtl="0" algn="l">
              <a:spcBef>
                <a:spcPts val="1200"/>
              </a:spcBef>
              <a:spcAft>
                <a:spcPts val="0"/>
              </a:spcAft>
              <a:buSzPts val="1600"/>
              <a:buChar char="●"/>
            </a:pPr>
            <a:r>
              <a:rPr lang="en-GB" sz="1600"/>
              <a:t>Consolidates access to the DB, Cache, and Simulator under one localhost:8000 roof, solving difficult browser CORS issues.</a:t>
            </a:r>
            <a:endParaRPr sz="1600"/>
          </a:p>
          <a:p>
            <a:pPr indent="-330200" lvl="0" marL="457200" rtl="0" algn="l">
              <a:spcBef>
                <a:spcPts val="0"/>
              </a:spcBef>
              <a:spcAft>
                <a:spcPts val="0"/>
              </a:spcAft>
              <a:buSzPts val="1600"/>
              <a:buChar char="●"/>
            </a:pPr>
            <a:r>
              <a:rPr lang="en-GB" sz="1600"/>
              <a:t>Maintains open WebSockets with all active users. When the Consumer broadcasts a new event, the Gateway pushes it instantly to the React app.</a:t>
            </a:r>
            <a:endParaRPr sz="1600"/>
          </a:p>
          <a:p>
            <a:pPr indent="-330200" lvl="0" marL="457200" rtl="0" algn="l">
              <a:spcBef>
                <a:spcPts val="0"/>
              </a:spcBef>
              <a:spcAft>
                <a:spcPts val="0"/>
              </a:spcAft>
              <a:buSzPts val="1600"/>
              <a:buChar char="●"/>
            </a:pPr>
            <a:r>
              <a:rPr lang="en-GB" sz="1600"/>
              <a:t>Proxies frontend requests (like creating or deleting automation rules) to the isolated DB Manager, enforcing strict separation of concerns.</a:t>
            </a:r>
            <a:endParaRPr sz="16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pic>
        <p:nvPicPr>
          <p:cNvPr descr="Beautify this slide" id="240" name="Google Shape;240;p32"/>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4" name="Shape 244"/>
        <p:cNvGrpSpPr/>
        <p:nvPr/>
      </p:nvGrpSpPr>
      <p:grpSpPr>
        <a:xfrm>
          <a:off x="0" y="0"/>
          <a:ext cx="0" cy="0"/>
          <a:chOff x="0" y="0"/>
          <a:chExt cx="0" cy="0"/>
        </a:xfrm>
      </p:grpSpPr>
      <p:sp>
        <p:nvSpPr>
          <p:cNvPr id="245" name="Google Shape;245;p33"/>
          <p:cNvSpPr txBox="1"/>
          <p:nvPr>
            <p:ph type="title"/>
          </p:nvPr>
        </p:nvSpPr>
        <p:spPr>
          <a:xfrm>
            <a:off x="1297500" y="393750"/>
            <a:ext cx="7308600" cy="914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b="1" lang="en-GB"/>
              <a:t>MARS_OS Command Center: </a:t>
            </a:r>
            <a:endParaRPr b="1"/>
          </a:p>
          <a:p>
            <a:pPr indent="0" lvl="0" marL="0" rtl="0" algn="l">
              <a:spcBef>
                <a:spcPts val="0"/>
              </a:spcBef>
              <a:spcAft>
                <a:spcPts val="0"/>
              </a:spcAft>
              <a:buNone/>
            </a:pPr>
            <a:r>
              <a:rPr b="1" lang="en-GB"/>
              <a:t>Frontend Architecture</a:t>
            </a:r>
            <a:endParaRPr b="1"/>
          </a:p>
        </p:txBody>
      </p:sp>
      <p:sp>
        <p:nvSpPr>
          <p:cNvPr id="246" name="Google Shape;246;p33"/>
          <p:cNvSpPr txBox="1"/>
          <p:nvPr>
            <p:ph idx="1" type="body"/>
          </p:nvPr>
        </p:nvSpPr>
        <p:spPr>
          <a:xfrm>
            <a:off x="1297500" y="1241050"/>
            <a:ext cx="7348500" cy="354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600"/>
          </a:p>
          <a:p>
            <a:pPr indent="-330200" lvl="0" marL="457200" rtl="0" algn="l">
              <a:spcBef>
                <a:spcPts val="1200"/>
              </a:spcBef>
              <a:spcAft>
                <a:spcPts val="0"/>
              </a:spcAft>
              <a:buSzPts val="1600"/>
              <a:buChar char="●"/>
            </a:pPr>
            <a:r>
              <a:rPr b="1" lang="en-GB" sz="1600"/>
              <a:t>Objective</a:t>
            </a:r>
            <a:r>
              <a:rPr lang="en-GB" sz="1600"/>
              <a:t>: develop an operational Head-Up Display (HUD) for real-time monitoring and control of the Mars base.</a:t>
            </a:r>
            <a:endParaRPr sz="1600"/>
          </a:p>
          <a:p>
            <a:pPr indent="-330200" lvl="0" marL="457200" rtl="0" algn="l">
              <a:spcBef>
                <a:spcPts val="0"/>
              </a:spcBef>
              <a:spcAft>
                <a:spcPts val="0"/>
              </a:spcAft>
              <a:buSzPts val="1600"/>
              <a:buChar char="●"/>
            </a:pPr>
            <a:r>
              <a:rPr b="1" lang="en-GB" sz="1600"/>
              <a:t>Key Requirements</a:t>
            </a:r>
            <a:r>
              <a:rPr lang="en-GB" sz="1600"/>
              <a:t>: instant reactivity, zero page reloads (Single Page Application), and complete decoupling from the backend services.</a:t>
            </a:r>
            <a:endParaRPr sz="16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pic>
        <p:nvPicPr>
          <p:cNvPr descr="Beautify this slide" id="251" name="Google Shape;251;p34"/>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5" name="Shape 255"/>
        <p:cNvGrpSpPr/>
        <p:nvPr/>
      </p:nvGrpSpPr>
      <p:grpSpPr>
        <a:xfrm>
          <a:off x="0" y="0"/>
          <a:ext cx="0" cy="0"/>
          <a:chOff x="0" y="0"/>
          <a:chExt cx="0" cy="0"/>
        </a:xfrm>
      </p:grpSpPr>
      <p:sp>
        <p:nvSpPr>
          <p:cNvPr id="256" name="Google Shape;256;p35"/>
          <p:cNvSpPr txBox="1"/>
          <p:nvPr>
            <p:ph type="title"/>
          </p:nvPr>
        </p:nvSpPr>
        <p:spPr>
          <a:xfrm>
            <a:off x="1297500" y="393750"/>
            <a:ext cx="7308600" cy="914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GB"/>
              <a:t>Data Flow: From Sensor to Screen</a:t>
            </a:r>
            <a:endParaRPr b="1"/>
          </a:p>
        </p:txBody>
      </p:sp>
      <p:sp>
        <p:nvSpPr>
          <p:cNvPr id="257" name="Google Shape;257;p35"/>
          <p:cNvSpPr txBox="1"/>
          <p:nvPr>
            <p:ph idx="1" type="body"/>
          </p:nvPr>
        </p:nvSpPr>
        <p:spPr>
          <a:xfrm>
            <a:off x="1297500" y="1241050"/>
            <a:ext cx="7348500" cy="354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600"/>
          </a:p>
          <a:p>
            <a:pPr indent="-330200" lvl="0" marL="457200" rtl="0" algn="l">
              <a:spcBef>
                <a:spcPts val="1200"/>
              </a:spcBef>
              <a:spcAft>
                <a:spcPts val="0"/>
              </a:spcAft>
              <a:buSzPts val="1600"/>
              <a:buChar char="●"/>
            </a:pPr>
            <a:r>
              <a:rPr b="1" lang="en-GB" sz="1600"/>
              <a:t>No Polling, Just Push:</a:t>
            </a:r>
            <a:r>
              <a:rPr lang="en-GB" sz="1600"/>
              <a:t> leveraging WebSockets for a persistent, bidirectional connection with the API Gateway.</a:t>
            </a:r>
            <a:endParaRPr sz="1600"/>
          </a:p>
          <a:p>
            <a:pPr indent="-330200" lvl="0" marL="457200" rtl="0" algn="l">
              <a:spcBef>
                <a:spcPts val="0"/>
              </a:spcBef>
              <a:spcAft>
                <a:spcPts val="0"/>
              </a:spcAft>
              <a:buSzPts val="1600"/>
              <a:buChar char="●"/>
            </a:pPr>
            <a:r>
              <a:rPr b="1" lang="en-GB" sz="1600"/>
              <a:t>Zero Latency:</a:t>
            </a:r>
            <a:r>
              <a:rPr lang="en-GB" sz="1600"/>
              <a:t> Kafka-processed events are pushed instantly to the React client.</a:t>
            </a:r>
            <a:endParaRPr sz="1600"/>
          </a:p>
          <a:p>
            <a:pPr indent="-330200" lvl="0" marL="457200" rtl="0" algn="l">
              <a:spcBef>
                <a:spcPts val="0"/>
              </a:spcBef>
              <a:spcAft>
                <a:spcPts val="0"/>
              </a:spcAft>
              <a:buSzPts val="1600"/>
              <a:buChar char="●"/>
            </a:pPr>
            <a:r>
              <a:rPr b="1" lang="en-GB" sz="1600"/>
              <a:t>Dynamic Data Mapping:</a:t>
            </a:r>
            <a:r>
              <a:rPr lang="en-GB" sz="1600"/>
              <a:t> Runtime formatting function to translate raw sensor paths into clean UI labels, preserving original data integrity for the backend.</a:t>
            </a:r>
            <a:endParaRPr sz="16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pic>
        <p:nvPicPr>
          <p:cNvPr descr="Beautify this slide" id="262" name="Google Shape;262;p36"/>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6" name="Shape 266"/>
        <p:cNvGrpSpPr/>
        <p:nvPr/>
      </p:nvGrpSpPr>
      <p:grpSpPr>
        <a:xfrm>
          <a:off x="0" y="0"/>
          <a:ext cx="0" cy="0"/>
          <a:chOff x="0" y="0"/>
          <a:chExt cx="0" cy="0"/>
        </a:xfrm>
      </p:grpSpPr>
      <p:sp>
        <p:nvSpPr>
          <p:cNvPr id="267" name="Google Shape;267;p37"/>
          <p:cNvSpPr txBox="1"/>
          <p:nvPr>
            <p:ph type="title"/>
          </p:nvPr>
        </p:nvSpPr>
        <p:spPr>
          <a:xfrm>
            <a:off x="1297500" y="393750"/>
            <a:ext cx="7308600" cy="914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GB"/>
              <a:t>Optimizing User Experience (UX)</a:t>
            </a:r>
            <a:endParaRPr b="1"/>
          </a:p>
        </p:txBody>
      </p:sp>
      <p:sp>
        <p:nvSpPr>
          <p:cNvPr id="268" name="Google Shape;268;p37"/>
          <p:cNvSpPr txBox="1"/>
          <p:nvPr>
            <p:ph idx="1" type="body"/>
          </p:nvPr>
        </p:nvSpPr>
        <p:spPr>
          <a:xfrm>
            <a:off x="1297500" y="1241050"/>
            <a:ext cx="7348500" cy="354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600"/>
          </a:p>
          <a:p>
            <a:pPr indent="-330200" lvl="0" marL="457200" rtl="0" algn="l">
              <a:spcBef>
                <a:spcPts val="1200"/>
              </a:spcBef>
              <a:spcAft>
                <a:spcPts val="0"/>
              </a:spcAft>
              <a:buSzPts val="1600"/>
              <a:buChar char="●"/>
            </a:pPr>
            <a:r>
              <a:rPr b="1" lang="en-GB" sz="1600"/>
              <a:t>Live Historical Charting (Recharts):</a:t>
            </a:r>
            <a:r>
              <a:rPr lang="en-GB" sz="1600"/>
              <a:t> sliding time window (last 20 samples) for Greenhouse Temperature, updating dynamically on every WebSocket event.</a:t>
            </a:r>
            <a:endParaRPr sz="1600"/>
          </a:p>
          <a:p>
            <a:pPr indent="-330200" lvl="0" marL="457200" rtl="0" algn="l">
              <a:spcBef>
                <a:spcPts val="0"/>
              </a:spcBef>
              <a:spcAft>
                <a:spcPts val="0"/>
              </a:spcAft>
              <a:buSzPts val="1600"/>
              <a:buChar char="●"/>
            </a:pPr>
            <a:r>
              <a:rPr b="1" lang="en-GB" sz="1600"/>
              <a:t>Optimistic UI for Actuators:</a:t>
            </a:r>
            <a:r>
              <a:rPr lang="en-GB" sz="1600"/>
              <a:t> immediate visual feedback upon operator click.</a:t>
            </a:r>
            <a:endParaRPr sz="1600"/>
          </a:p>
          <a:p>
            <a:pPr indent="-330200" lvl="1" marL="914400" rtl="0" algn="l">
              <a:spcBef>
                <a:spcPts val="0"/>
              </a:spcBef>
              <a:spcAft>
                <a:spcPts val="0"/>
              </a:spcAft>
              <a:buSzPts val="1600"/>
              <a:buChar char="○"/>
            </a:pPr>
            <a:r>
              <a:rPr lang="en-GB" sz="1600"/>
              <a:t>Asynchronous REST API (POST) execution in the background.</a:t>
            </a:r>
            <a:endParaRPr sz="1600"/>
          </a:p>
          <a:p>
            <a:pPr indent="-330200" lvl="1" marL="914400" rtl="0" algn="l">
              <a:spcBef>
                <a:spcPts val="0"/>
              </a:spcBef>
              <a:spcAft>
                <a:spcPts val="0"/>
              </a:spcAft>
              <a:buSzPts val="1600"/>
              <a:buChar char="○"/>
            </a:pPr>
            <a:r>
              <a:rPr lang="en-GB" sz="1600"/>
              <a:t>Automatic Rollback mechanism to revert UI state in case of network or server failure.</a:t>
            </a:r>
            <a:endParaRPr sz="16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pic>
        <p:nvPicPr>
          <p:cNvPr descr="Beautify this slide" id="273" name="Google Shape;273;p38"/>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7" name="Shape 277"/>
        <p:cNvGrpSpPr/>
        <p:nvPr/>
      </p:nvGrpSpPr>
      <p:grpSpPr>
        <a:xfrm>
          <a:off x="0" y="0"/>
          <a:ext cx="0" cy="0"/>
          <a:chOff x="0" y="0"/>
          <a:chExt cx="0" cy="0"/>
        </a:xfrm>
      </p:grpSpPr>
      <p:sp>
        <p:nvSpPr>
          <p:cNvPr id="278" name="Google Shape;278;p39"/>
          <p:cNvSpPr txBox="1"/>
          <p:nvPr>
            <p:ph type="title"/>
          </p:nvPr>
        </p:nvSpPr>
        <p:spPr>
          <a:xfrm>
            <a:off x="1297500" y="393750"/>
            <a:ext cx="7308600" cy="914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GB"/>
              <a:t>Dynamic Automation Engine</a:t>
            </a:r>
            <a:endParaRPr b="1"/>
          </a:p>
        </p:txBody>
      </p:sp>
      <p:sp>
        <p:nvSpPr>
          <p:cNvPr id="279" name="Google Shape;279;p39"/>
          <p:cNvSpPr txBox="1"/>
          <p:nvPr>
            <p:ph idx="1" type="body"/>
          </p:nvPr>
        </p:nvSpPr>
        <p:spPr>
          <a:xfrm>
            <a:off x="1297500" y="1241050"/>
            <a:ext cx="7348500" cy="354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600"/>
          </a:p>
          <a:p>
            <a:pPr indent="-330200" lvl="0" marL="457200" rtl="0" algn="l">
              <a:spcBef>
                <a:spcPts val="1200"/>
              </a:spcBef>
              <a:spcAft>
                <a:spcPts val="0"/>
              </a:spcAft>
              <a:buSzPts val="1600"/>
              <a:buChar char="●"/>
            </a:pPr>
            <a:r>
              <a:rPr b="1" lang="en-GB" sz="1600"/>
              <a:t>Dynamic UI Components:</a:t>
            </a:r>
            <a:r>
              <a:rPr lang="en-GB" sz="1600"/>
              <a:t> IF/THEN dropdowns automatically populate by extracting keys from the live application state.</a:t>
            </a:r>
            <a:endParaRPr sz="1600"/>
          </a:p>
          <a:p>
            <a:pPr indent="-330200" lvl="0" marL="457200" rtl="0" algn="l">
              <a:spcBef>
                <a:spcPts val="0"/>
              </a:spcBef>
              <a:spcAft>
                <a:spcPts val="0"/>
              </a:spcAft>
              <a:buSzPts val="1600"/>
              <a:buChar char="●"/>
            </a:pPr>
            <a:r>
              <a:rPr b="1" lang="en-GB" sz="1600"/>
              <a:t>Future-Proof Scalability:</a:t>
            </a:r>
            <a:r>
              <a:rPr lang="en-GB" sz="1600"/>
              <a:t> New backend sensors are instantly integrated into the rules menu without any frontend code changes.</a:t>
            </a:r>
            <a:endParaRPr sz="1600"/>
          </a:p>
          <a:p>
            <a:pPr indent="-330200" lvl="0" marL="457200" rtl="0" algn="l">
              <a:spcBef>
                <a:spcPts val="0"/>
              </a:spcBef>
              <a:spcAft>
                <a:spcPts val="0"/>
              </a:spcAft>
              <a:buSzPts val="1600"/>
              <a:buChar char="●"/>
            </a:pPr>
            <a:r>
              <a:rPr b="1" lang="en-GB" sz="1600"/>
              <a:t>Full API Integration:</a:t>
            </a:r>
            <a:r>
              <a:rPr lang="en-GB" sz="1600"/>
              <a:t> Complete rule lifecycle management (Initial Fetch, POST for creation, DELETE for removal) fully synced with the PostgreSQL database.</a:t>
            </a:r>
            <a:endParaRPr sz="16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pic>
        <p:nvPicPr>
          <p:cNvPr descr="Beautify this slide" id="284" name="Google Shape;284;p40"/>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8" name="Shape 288"/>
        <p:cNvGrpSpPr/>
        <p:nvPr/>
      </p:nvGrpSpPr>
      <p:grpSpPr>
        <a:xfrm>
          <a:off x="0" y="0"/>
          <a:ext cx="0" cy="0"/>
          <a:chOff x="0" y="0"/>
          <a:chExt cx="0" cy="0"/>
        </a:xfrm>
      </p:grpSpPr>
      <p:sp>
        <p:nvSpPr>
          <p:cNvPr id="289" name="Google Shape;289;p41"/>
          <p:cNvSpPr txBox="1"/>
          <p:nvPr>
            <p:ph type="title"/>
          </p:nvPr>
        </p:nvSpPr>
        <p:spPr>
          <a:xfrm>
            <a:off x="1297500" y="393750"/>
            <a:ext cx="7308600" cy="914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GB"/>
              <a:t>Tech Stack &amp; Deployment</a:t>
            </a:r>
            <a:endParaRPr b="1"/>
          </a:p>
        </p:txBody>
      </p:sp>
      <p:sp>
        <p:nvSpPr>
          <p:cNvPr id="290" name="Google Shape;290;p41"/>
          <p:cNvSpPr txBox="1"/>
          <p:nvPr>
            <p:ph idx="1" type="body"/>
          </p:nvPr>
        </p:nvSpPr>
        <p:spPr>
          <a:xfrm>
            <a:off x="1297500" y="1241050"/>
            <a:ext cx="7348500" cy="354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600"/>
          </a:p>
          <a:p>
            <a:pPr indent="-330200" lvl="0" marL="457200" rtl="0" algn="l">
              <a:spcBef>
                <a:spcPts val="1200"/>
              </a:spcBef>
              <a:spcAft>
                <a:spcPts val="0"/>
              </a:spcAft>
              <a:buSzPts val="1600"/>
              <a:buChar char="●"/>
            </a:pPr>
            <a:r>
              <a:rPr b="1" lang="en-GB" sz="1600"/>
              <a:t>Core:</a:t>
            </a:r>
            <a:r>
              <a:rPr lang="en-GB" sz="1600"/>
              <a:t> React.js + Vite (for ultra-fast builds and hot-reloading).</a:t>
            </a:r>
            <a:endParaRPr sz="1600"/>
          </a:p>
          <a:p>
            <a:pPr indent="-330200" lvl="0" marL="457200" rtl="0" algn="l">
              <a:spcBef>
                <a:spcPts val="0"/>
              </a:spcBef>
              <a:spcAft>
                <a:spcPts val="0"/>
              </a:spcAft>
              <a:buSzPts val="1600"/>
              <a:buChar char="●"/>
            </a:pPr>
            <a:r>
              <a:rPr b="1" lang="en-GB" sz="1600"/>
              <a:t>Styling:</a:t>
            </a:r>
            <a:r>
              <a:rPr lang="en-GB" sz="1600"/>
              <a:t> TailwindCSS (Dark/Sci-Fi design system, responsive, utility-first).</a:t>
            </a:r>
            <a:endParaRPr sz="1600"/>
          </a:p>
          <a:p>
            <a:pPr indent="-330200" lvl="0" marL="457200" rtl="0" algn="l">
              <a:spcBef>
                <a:spcPts val="0"/>
              </a:spcBef>
              <a:spcAft>
                <a:spcPts val="0"/>
              </a:spcAft>
              <a:buSzPts val="1600"/>
              <a:buChar char="●"/>
            </a:pPr>
            <a:r>
              <a:rPr b="1" lang="en-GB" sz="1600"/>
              <a:t>Deployment:</a:t>
            </a:r>
            <a:r>
              <a:rPr lang="en-GB" sz="1600"/>
              <a:t> Containerized via Docker.</a:t>
            </a:r>
            <a:endParaRPr sz="1600"/>
          </a:p>
          <a:p>
            <a:pPr indent="-330200" lvl="0" marL="457200" rtl="0" algn="l">
              <a:spcBef>
                <a:spcPts val="0"/>
              </a:spcBef>
              <a:spcAft>
                <a:spcPts val="0"/>
              </a:spcAft>
              <a:buSzPts val="1600"/>
              <a:buChar char="●"/>
            </a:pPr>
            <a:r>
              <a:rPr b="1" lang="en-GB" sz="1600"/>
              <a:t>Configuration:</a:t>
            </a:r>
            <a:r>
              <a:rPr lang="en-GB" sz="1600"/>
              <a:t> Environment variables (VITE_API_URL) injected via docker-compose.yml for "Plug &amp; Play" microservices integration.</a:t>
            </a:r>
            <a:endParaRPr sz="16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pic>
        <p:nvPicPr>
          <p:cNvPr descr="Beautify this slide" id="295" name="Google Shape;295;p42"/>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